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notesMasterIdLst>
    <p:notesMasterId r:id="rId25"/>
  </p:notesMasterIdLst>
  <p:sldIdLst>
    <p:sldId id="256" r:id="rId2"/>
    <p:sldId id="278" r:id="rId3"/>
    <p:sldId id="257" r:id="rId4"/>
    <p:sldId id="258" r:id="rId5"/>
    <p:sldId id="259" r:id="rId6"/>
    <p:sldId id="260" r:id="rId7"/>
    <p:sldId id="270" r:id="rId8"/>
    <p:sldId id="261" r:id="rId9"/>
    <p:sldId id="262" r:id="rId10"/>
    <p:sldId id="271" r:id="rId11"/>
    <p:sldId id="263" r:id="rId12"/>
    <p:sldId id="264" r:id="rId13"/>
    <p:sldId id="265" r:id="rId14"/>
    <p:sldId id="266" r:id="rId15"/>
    <p:sldId id="267" r:id="rId16"/>
    <p:sldId id="272" r:id="rId17"/>
    <p:sldId id="273" r:id="rId18"/>
    <p:sldId id="274" r:id="rId19"/>
    <p:sldId id="275" r:id="rId20"/>
    <p:sldId id="276" r:id="rId21"/>
    <p:sldId id="277" r:id="rId22"/>
    <p:sldId id="268" r:id="rId23"/>
    <p:sldId id="26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8A194-3C43-4352-8D7C-EEA9AD40E1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7F217-02FB-41C2-A76B-14D70D58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7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7F217-02FB-41C2-A76B-14D70D581E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7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0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3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75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24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8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9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4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8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8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88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96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78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01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22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509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5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62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6343201" cy="42415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b="1" dirty="0"/>
              <a:t>Visual Programming</a:t>
            </a:r>
          </a:p>
          <a:p>
            <a:pPr marL="0" indent="0" algn="ctr">
              <a:buNone/>
            </a:pPr>
            <a:r>
              <a:rPr lang="en-US" sz="3200" dirty="0"/>
              <a:t>Real Estate Management System Complete Property &amp; Financial Management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F2F70-CF9A-46A7-99C4-3EC87BD3C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797EA-04BD-4F88-A5FA-92525789E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Presented by:</a:t>
            </a:r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b="1" dirty="0"/>
              <a:t>Eisha </a:t>
            </a:r>
            <a:r>
              <a:rPr lang="en-US" b="1" dirty="0" err="1"/>
              <a:t>Asim</a:t>
            </a:r>
            <a:r>
              <a:rPr lang="en-US" b="1" dirty="0"/>
              <a:t> (243575)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err="1"/>
              <a:t>Rasba</a:t>
            </a:r>
            <a:r>
              <a:rPr lang="en-US" b="1" dirty="0"/>
              <a:t> Mazhar (243571)</a:t>
            </a:r>
          </a:p>
          <a:p>
            <a:pPr marL="0" indent="0">
              <a:buNone/>
            </a:pPr>
            <a:r>
              <a:rPr lang="en-US" b="1" dirty="0"/>
              <a:t>	Furqan Arshad (243583)</a:t>
            </a:r>
          </a:p>
          <a:p>
            <a:pPr marL="0" indent="0">
              <a:buNone/>
            </a:pPr>
            <a:r>
              <a:rPr lang="en-US" b="1" dirty="0"/>
              <a:t>	Ayesha </a:t>
            </a:r>
            <a:r>
              <a:rPr lang="en-US" b="1" dirty="0" err="1"/>
              <a:t>Akhlaq</a:t>
            </a:r>
            <a:r>
              <a:rPr lang="en-US" b="1" dirty="0"/>
              <a:t> (243553)</a:t>
            </a:r>
            <a:endParaRPr lang="en-US" sz="24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344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</a:t>
            </a:r>
            <a:r>
              <a:rPr lang="en-US" dirty="0"/>
              <a:t>Problems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EF15B6C-1BEC-4FED-A528-8439870A51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2985" y="1910433"/>
            <a:ext cx="8278030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Fragmentation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is spread across multiple files and formats, causing inconsistency and slow data retrieval.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Calculations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Installments, commissions, and profits are calculated manually, increasing the risk of errors and disputes.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Real-time Tracking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 availability, payment status, and receivables cannot be monitored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Inefficient Reporting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Reports require manual data compilation, making them time-consuming and unreliable.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Customer Management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records, payment history, and ledgers are not centralized or well organized.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Automation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Installment reminders, commission calculations, and profit distribution depend on manual effort.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Management Visibility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 lacks clear insight into project performance, plot status, and overall financial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Centralized database system</a:t>
            </a:r>
          </a:p>
          <a:p>
            <a:r>
              <a:rPr dirty="0"/>
              <a:t>• Automated payment tracking</a:t>
            </a:r>
          </a:p>
          <a:p>
            <a:r>
              <a:rPr dirty="0"/>
              <a:t>• Real-time financial reporting</a:t>
            </a:r>
          </a:p>
          <a:p>
            <a:r>
              <a:rPr dirty="0"/>
              <a:t>• User-friendly desktop application</a:t>
            </a:r>
          </a:p>
          <a:p>
            <a:r>
              <a:rPr dirty="0"/>
              <a:t>• Complete CRUD operations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32426E-BA7A-4A57-B39A-0A9BDF4F3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730" y="2997723"/>
            <a:ext cx="3610465" cy="33653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WPF</a:t>
            </a:r>
          </a:p>
          <a:p>
            <a:r>
              <a:rPr dirty="0"/>
              <a:t>Framework: .NET 8.0</a:t>
            </a:r>
          </a:p>
          <a:p>
            <a:r>
              <a:rPr dirty="0"/>
              <a:t>Database: SQL Server Express</a:t>
            </a:r>
          </a:p>
          <a:p>
            <a:r>
              <a:rPr dirty="0"/>
              <a:t>Data Access: </a:t>
            </a:r>
            <a:r>
              <a:rPr dirty="0" err="1"/>
              <a:t>Microsoft.Data.SqlClient</a:t>
            </a:r>
            <a:r>
              <a:rPr lang="en-US" dirty="0"/>
              <a:t>(ADO.NET)</a:t>
            </a:r>
            <a:endParaRPr dirty="0"/>
          </a:p>
          <a:p>
            <a:r>
              <a:rPr dirty="0"/>
              <a:t>Architecture: 3-Tier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 Layer (15+ Pages)</a:t>
            </a:r>
          </a:p>
          <a:p>
            <a:r>
              <a:t>↓</a:t>
            </a:r>
          </a:p>
          <a:p>
            <a:r>
              <a:t>Data Access Layer (10+ Classes)</a:t>
            </a:r>
          </a:p>
          <a:p>
            <a:r>
              <a:t>↓</a:t>
            </a:r>
          </a:p>
          <a:p>
            <a:r>
              <a:t>Database Layer (8 Tables)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1AD79-63C9-4200-B524-C0CE9DA72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2C5BB-0040-4887-ADE9-60ED7A2F6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needs to login by entering correct credentials to use the  application features</a:t>
            </a:r>
          </a:p>
          <a:p>
            <a:r>
              <a:rPr lang="en-US" dirty="0"/>
              <a:t>User has the option to create account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8FA08-41D8-4C93-B615-6B00984D4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20" y="3645817"/>
            <a:ext cx="4439248" cy="30621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ADF95D-06E4-4EB4-B712-27FFC7571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689" y="3429000"/>
            <a:ext cx="3365291" cy="321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56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Users</a:t>
            </a:r>
          </a:p>
          <a:p>
            <a:r>
              <a:t>Parties</a:t>
            </a:r>
          </a:p>
          <a:p>
            <a:r>
              <a:t>Projects</a:t>
            </a:r>
          </a:p>
          <a:p>
            <a:r>
              <a:t>Plots</a:t>
            </a:r>
          </a:p>
          <a:p>
            <a:r>
              <a:t>Sales</a:t>
            </a:r>
          </a:p>
          <a:p>
            <a:r>
              <a:t>PaymentPlans</a:t>
            </a:r>
          </a:p>
          <a:p>
            <a:r>
              <a:t>Installments</a:t>
            </a:r>
          </a:p>
          <a:p>
            <a:r>
              <a:t>Transactions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1A9D90-7FA0-4E5D-A8D2-1E08D612C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749" y="2377813"/>
            <a:ext cx="2695951" cy="37533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114" y="2368093"/>
            <a:ext cx="6345260" cy="3530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Project-wise Plot Management(Marla Based)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Project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Plot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Plot Visualization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Ownership Mapping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dirty="0"/>
              <a:t>Customer Ledger &amp; Receivables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Customer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Ledger 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Quick Entry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Receivables and Aging Report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Customer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A04258-39FC-46E9-887D-AA757C5FF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190" y="2124476"/>
            <a:ext cx="2145712" cy="222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9069E2-5127-4D8D-95C8-63DA44277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098" y="3830357"/>
            <a:ext cx="1967578" cy="2619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638" y="2400302"/>
            <a:ext cx="6345260" cy="3530600"/>
          </a:xfrm>
        </p:spPr>
        <p:txBody>
          <a:bodyPr>
            <a:normAutofit/>
          </a:bodyPr>
          <a:lstStyle/>
          <a:p>
            <a:r>
              <a:rPr lang="en-US" sz="2000" dirty="0"/>
              <a:t>Installments and Payment Plans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Installments and Payment Plans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D82D29-F125-42CA-AC6D-817B070E7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922" y="2266105"/>
            <a:ext cx="3153215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60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Project-wise Plot Management(Marla Based)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2980" y="2112128"/>
            <a:ext cx="6345260" cy="3530600"/>
          </a:xfrm>
        </p:spPr>
        <p:txBody>
          <a:bodyPr/>
          <a:lstStyle/>
          <a:p>
            <a:r>
              <a:rPr lang="en-US" dirty="0"/>
              <a:t>Project Management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Manage project details and information (Add, Delete, Update)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Gives a grid view</a:t>
            </a:r>
          </a:p>
          <a:p>
            <a:pPr>
              <a:buFont typeface="+mj-lt"/>
              <a:buAutoNum type="arabicPeriod"/>
            </a:pPr>
            <a:endParaRPr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3FF143-3766-4029-82DF-60A596ADA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60" y="3429000"/>
            <a:ext cx="7820838" cy="33111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Project-wise Plot Management(Marla Based)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Plot Management</a:t>
            </a:r>
          </a:p>
          <a:p>
            <a:pPr marL="0" indent="0">
              <a:buNone/>
            </a:pPr>
            <a:r>
              <a:rPr lang="en-US" sz="1400" dirty="0"/>
              <a:t>Add, Update and Delete options are available. Plot Owner can be added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7DDA80-3AB7-42B9-AA8F-B95580070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97" y="3391998"/>
            <a:ext cx="4655385" cy="33198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84302A-F2F4-44BC-B20D-F764DC959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625" y="3290122"/>
            <a:ext cx="2867178" cy="29276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Project-wise Plot Management(Marla Based)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Plot Visual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Visual representation of plots on the basis of filters and project wise</a:t>
            </a:r>
          </a:p>
          <a:p>
            <a:pPr marL="0" indent="0">
              <a:buNone/>
            </a:pP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77F2BD-A9F4-410D-90C4-496E87B91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535" y="3330455"/>
            <a:ext cx="5541098" cy="31740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Project-wise Plot Management(Marla Based)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Ownership Mapping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 owners and map plot details</a:t>
            </a:r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CB604F-ECE4-4622-8EFB-7AB127754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18" y="3173300"/>
            <a:ext cx="7060676" cy="353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Ledger &amp; Receivables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Add, Update, Delete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Provides Search and </a:t>
            </a:r>
            <a:r>
              <a:rPr lang="en-US" sz="1400" dirty="0" err="1"/>
              <a:t>Fliter</a:t>
            </a:r>
            <a:r>
              <a:rPr lang="en-US" sz="1400" dirty="0"/>
              <a:t> Facility</a:t>
            </a:r>
          </a:p>
          <a:p>
            <a:pPr>
              <a:buFont typeface="Arial" panose="020B0604020202020204" pitchFamily="34" charset="0"/>
              <a:buChar char="•"/>
            </a:pP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1BEE3D-68D3-484B-8CE4-C93421E8C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79" y="3597226"/>
            <a:ext cx="5307290" cy="3274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F9CA1B-4492-41A9-A5B0-EE70ECF14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367" y="1636963"/>
            <a:ext cx="4118978" cy="19602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Ledger &amp; Receivables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Ledger 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Shows a complete and organized record of all financial transactions </a:t>
            </a:r>
            <a:endParaRPr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6995DC-E606-4C13-83E4-3F187532D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090" y="3172654"/>
            <a:ext cx="5929460" cy="350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53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Ledger &amp; Receivables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 Entry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Manage quick transaction history of customer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3CC992-CC5F-4FA5-93E3-218C1ACC2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64990"/>
            <a:ext cx="9144000" cy="286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87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Ledger &amp; Receivables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Receivables-Aging Report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Shows how much money customers owe you, grouped by how long it's been unpaid.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A99EB-0A1F-4619-AEC2-23B87377F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05" y="3597354"/>
            <a:ext cx="6410226" cy="326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77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Ledger &amp; Receivables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Generates account statements for customers showing their transaction history, balances, and what they owe.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93675F-0679-41BB-9C5D-569D63B0A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18" y="3542533"/>
            <a:ext cx="6787298" cy="291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401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73D0F-CC63-4E7D-A07E-EB0C5BA90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Installments &amp; Payment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46125-0425-4A74-AA80-D79A7039D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732863" cy="3530600"/>
          </a:xfrm>
        </p:spPr>
        <p:txBody>
          <a:bodyPr/>
          <a:lstStyle/>
          <a:p>
            <a:r>
              <a:rPr lang="en-US" dirty="0"/>
              <a:t>Installments &amp; Payment Plans</a:t>
            </a:r>
          </a:p>
          <a:p>
            <a:pPr marL="0" indent="0">
              <a:buNone/>
            </a:pPr>
            <a:r>
              <a:rPr lang="en-US" sz="1600" dirty="0"/>
              <a:t>Creates and manages payment plans for property sales, automatically generates installments, and tracks payment schedule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3B4EA-B15D-445B-A16A-BD40E6794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41" y="3586512"/>
            <a:ext cx="6922158" cy="306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62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73D0F-CC63-4E7D-A07E-EB0C5BA90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Installments &amp; Payment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46125-0425-4A74-AA80-D79A7039D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732863" cy="3530600"/>
          </a:xfrm>
        </p:spPr>
        <p:txBody>
          <a:bodyPr/>
          <a:lstStyle/>
          <a:p>
            <a:r>
              <a:rPr lang="en-US" dirty="0"/>
              <a:t>Installments &amp; Payment Plans</a:t>
            </a:r>
          </a:p>
          <a:p>
            <a:pPr marL="0" indent="0">
              <a:buNone/>
            </a:pPr>
            <a:r>
              <a:rPr lang="en-US" sz="1600" dirty="0"/>
              <a:t>Provides Grid View and search filter options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19DE20-3117-4A17-BC34-879397435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70" y="3429000"/>
            <a:ext cx="6608190" cy="360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4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PDF/Excel Export</a:t>
            </a:r>
          </a:p>
          <a:p>
            <a:r>
              <a:rPr dirty="0"/>
              <a:t>Email Integration</a:t>
            </a:r>
          </a:p>
          <a:p>
            <a:r>
              <a:rPr lang="en-US" dirty="0"/>
              <a:t>Some Other Modules like Sales Report, Commission </a:t>
            </a:r>
            <a:r>
              <a:rPr lang="en-US" dirty="0" err="1"/>
              <a:t>etc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0328" y="3205084"/>
            <a:ext cx="6343672" cy="709865"/>
          </a:xfrm>
        </p:spPr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</a:rPr>
              <a:t>Thank You!!!!</a:t>
            </a:r>
            <a:endParaRPr sz="4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126</TotalTime>
  <Words>570</Words>
  <Application>Microsoft Office PowerPoint</Application>
  <PresentationFormat>On-screen Show (4:3)</PresentationFormat>
  <Paragraphs>109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Century Gothic</vt:lpstr>
      <vt:lpstr>Wingdings 3</vt:lpstr>
      <vt:lpstr>Ion Boardroom</vt:lpstr>
      <vt:lpstr>PowerPoint Presentation</vt:lpstr>
      <vt:lpstr>Group Member</vt:lpstr>
      <vt:lpstr>The Problems</vt:lpstr>
      <vt:lpstr>Our Solution</vt:lpstr>
      <vt:lpstr>Technologies Used</vt:lpstr>
      <vt:lpstr>Architecture Overview</vt:lpstr>
      <vt:lpstr>User Authentication</vt:lpstr>
      <vt:lpstr>Database Schema</vt:lpstr>
      <vt:lpstr>System Modules</vt:lpstr>
      <vt:lpstr>System Modules</vt:lpstr>
      <vt:lpstr>Project-wise Plot Management(Marla Based)</vt:lpstr>
      <vt:lpstr>Project-wise Plot Management(Marla Based)</vt:lpstr>
      <vt:lpstr>Project-wise Plot Management(Marla Based)</vt:lpstr>
      <vt:lpstr>Project-wise Plot Management(Marla Based)</vt:lpstr>
      <vt:lpstr>Customer Ledger &amp; Receivables</vt:lpstr>
      <vt:lpstr>Customer Ledger &amp; Receivables</vt:lpstr>
      <vt:lpstr>Customer Ledger &amp; Receivables</vt:lpstr>
      <vt:lpstr>Customer Ledger &amp; Receivables</vt:lpstr>
      <vt:lpstr>Customer Ledger &amp; Receivables</vt:lpstr>
      <vt:lpstr>Installments &amp; Payment Plans</vt:lpstr>
      <vt:lpstr>Installments &amp; Payment Plans</vt:lpstr>
      <vt:lpstr>Future Enhancements</vt:lpstr>
      <vt:lpstr>Thank You!!!!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Management System Complete Property &amp; Financial Management Solution</dc:title>
  <dc:subject/>
  <dc:creator/>
  <cp:keywords/>
  <dc:description>generated using python-pptx</dc:description>
  <cp:lastModifiedBy>hp</cp:lastModifiedBy>
  <cp:revision>16</cp:revision>
  <dcterms:created xsi:type="dcterms:W3CDTF">2013-01-27T09:14:16Z</dcterms:created>
  <dcterms:modified xsi:type="dcterms:W3CDTF">2025-12-28T17:55:04Z</dcterms:modified>
  <cp:category/>
</cp:coreProperties>
</file>